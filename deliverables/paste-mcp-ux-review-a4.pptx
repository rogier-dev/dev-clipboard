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e3ab97c2604335" /><Relationship Type="http://schemas.openxmlformats.org/officeDocument/2006/relationships/extended-properties" Target="/docProps/app.xml" Id="Rf3c64624a6e64034" /><Relationship Type="http://schemas.openxmlformats.org/officeDocument/2006/relationships/officeDocument" Target="/ppt/presentation.xml" Id="Rea3a25faa85e48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88c8e2adc548bf"/>
  </p:sldMasterIdLst>
  <p:notesMasterIdLst>
    <p:notesMasterId xmlns:r="http://schemas.openxmlformats.org/officeDocument/2006/relationships" r:id="Redfe6429834b4859"/>
  </p:notesMasterIdLst>
  <p:sldIdLst>
    <p:sldId xmlns:r="http://schemas.openxmlformats.org/officeDocument/2006/relationships" id="256" r:id="Ra8aefef87ebb4264"/>
    <p:sldId xmlns:r="http://schemas.openxmlformats.org/officeDocument/2006/relationships" id="257" r:id="R4e0ac7980ad94f25"/>
    <p:sldId xmlns:r="http://schemas.openxmlformats.org/officeDocument/2006/relationships" id="258" r:id="Rbf421fc26f134f4e"/>
    <p:sldId xmlns:r="http://schemas.openxmlformats.org/officeDocument/2006/relationships" id="259" r:id="R026f81e655cc4d72"/>
    <p:sldId xmlns:r="http://schemas.openxmlformats.org/officeDocument/2006/relationships" id="260" r:id="Rc86439a6e61d4304"/>
    <p:sldId xmlns:r="http://schemas.openxmlformats.org/officeDocument/2006/relationships" id="261" r:id="R2d012cef5d1f4c85"/>
    <p:sldId xmlns:r="http://schemas.openxmlformats.org/officeDocument/2006/relationships" id="262" r:id="R7412ff58fb8a4374"/>
    <p:sldId xmlns:r="http://schemas.openxmlformats.org/officeDocument/2006/relationships" id="263" r:id="Rc707a0165ded4014"/>
    <p:sldId xmlns:r="http://schemas.openxmlformats.org/officeDocument/2006/relationships" id="264" r:id="R465e8e5ec37f4867"/>
    <p:sldId xmlns:r="http://schemas.openxmlformats.org/officeDocument/2006/relationships" id="265" r:id="R513569fa1e474ad1"/>
    <p:sldId xmlns:r="http://schemas.openxmlformats.org/officeDocument/2006/relationships" id="266" r:id="Rd0b9b44393b24107"/>
  </p:sldIdLst>
  <p:sldSz cx="10696575" cy="75628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8ddbca9a944db1" /><Relationship Type="http://schemas.openxmlformats.org/officeDocument/2006/relationships/slideMaster" Target="/ppt/slideMasters/slideMaster1.xml" Id="R9488c8e2adc548bf" /><Relationship Type="http://schemas.openxmlformats.org/officeDocument/2006/relationships/notesMaster" Target="/ppt/notesMasters/notesMaster1.xml" Id="Redfe6429834b4859" /><Relationship Type="http://schemas.openxmlformats.org/officeDocument/2006/relationships/presProps" Target="/ppt/presProps.xml" Id="R7a8b061953a64348" /><Relationship Type="http://schemas.openxmlformats.org/officeDocument/2006/relationships/tableStyles" Target="/ppt/tableStyles.xml" Id="Ra09cbab897c34e3e" /><Relationship Type="http://schemas.openxmlformats.org/officeDocument/2006/relationships/slide" Target="/ppt/slides/slide1.xml" Id="Ra8aefef87ebb4264" /><Relationship Type="http://schemas.openxmlformats.org/officeDocument/2006/relationships/slide" Target="/ppt/slides/slide2.xml" Id="R4e0ac7980ad94f25" /><Relationship Type="http://schemas.openxmlformats.org/officeDocument/2006/relationships/slide" Target="/ppt/slides/slide3.xml" Id="Rbf421fc26f134f4e" /><Relationship Type="http://schemas.openxmlformats.org/officeDocument/2006/relationships/slide" Target="/ppt/slides/slide4.xml" Id="R026f81e655cc4d72" /><Relationship Type="http://schemas.openxmlformats.org/officeDocument/2006/relationships/slide" Target="/ppt/slides/slide5.xml" Id="Rc86439a6e61d4304" /><Relationship Type="http://schemas.openxmlformats.org/officeDocument/2006/relationships/slide" Target="/ppt/slides/slide6.xml" Id="R2d012cef5d1f4c85" /><Relationship Type="http://schemas.openxmlformats.org/officeDocument/2006/relationships/slide" Target="/ppt/slides/slide7.xml" Id="R7412ff58fb8a4374" /><Relationship Type="http://schemas.openxmlformats.org/officeDocument/2006/relationships/slide" Target="/ppt/slides/slide8.xml" Id="Rc707a0165ded4014" /><Relationship Type="http://schemas.openxmlformats.org/officeDocument/2006/relationships/slide" Target="/ppt/slides/slide9.xml" Id="R465e8e5ec37f4867" /><Relationship Type="http://schemas.openxmlformats.org/officeDocument/2006/relationships/slide" Target="/ppt/slides/slide10.xml" Id="R513569fa1e474ad1" /><Relationship Type="http://schemas.openxmlformats.org/officeDocument/2006/relationships/slide" Target="/ppt/slides/slide11.xml" Id="Rd0b9b44393b241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4ec7bdf2a843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fa9cc03f084fcc" /><Relationship Type="http://schemas.openxmlformats.org/officeDocument/2006/relationships/notesMaster" Target="/ppt/notesMasters/notesMaster1.xml" Id="Ree4c65e0696047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2c5899c5d54ad0" /><Relationship Type="http://schemas.openxmlformats.org/officeDocument/2006/relationships/notesMaster" Target="/ppt/notesMasters/notesMaster1.xml" Id="R8ec3977448c542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80c54f776042ba" /><Relationship Type="http://schemas.openxmlformats.org/officeDocument/2006/relationships/notesMaster" Target="/ppt/notesMasters/notesMaster1.xml" Id="R32c12e992f2d47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5b6739390a41f1" /><Relationship Type="http://schemas.openxmlformats.org/officeDocument/2006/relationships/notesMaster" Target="/ppt/notesMasters/notesMaster1.xml" Id="R90f519c32b1c43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25acad18e146c8" /><Relationship Type="http://schemas.openxmlformats.org/officeDocument/2006/relationships/notesMaster" Target="/ppt/notesMasters/notesMaster1.xml" Id="R02be157d661e40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a90fb1963f4a32" /><Relationship Type="http://schemas.openxmlformats.org/officeDocument/2006/relationships/notesMaster" Target="/ppt/notesMasters/notesMaster1.xml" Id="Re4cf8108c46043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a4989cce4540db" /><Relationship Type="http://schemas.openxmlformats.org/officeDocument/2006/relationships/notesMaster" Target="/ppt/notesMasters/notesMaster1.xml" Id="R9aa5d419d89c4e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f689935e494f46" /><Relationship Type="http://schemas.openxmlformats.org/officeDocument/2006/relationships/notesMaster" Target="/ppt/notesMasters/notesMaster1.xml" Id="Re476674e3c4049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d060b4b27b4743" /><Relationship Type="http://schemas.openxmlformats.org/officeDocument/2006/relationships/notesMaster" Target="/ppt/notesMasters/notesMaster1.xml" Id="R25c22f4bc20346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69db729b494e93" /><Relationship Type="http://schemas.openxmlformats.org/officeDocument/2006/relationships/notesMaster" Target="/ppt/notesMasters/notesMaster1.xml" Id="R8ebfd2ec2b7944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6b7d85e6ec45b5" /><Relationship Type="http://schemas.openxmlformats.org/officeDocument/2006/relationships/notesMaster" Target="/ppt/notesMasters/notesMaster1.xml" Id="Ra1f597abcc6248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a6f5e1b364c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83a1fe035640e2" /><Relationship Type="http://schemas.openxmlformats.org/officeDocument/2006/relationships/slideLayout" Target="/ppt/slideLayouts/slideLayout1.xml" Id="Rc84fe8d2202e46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4fe8d2202e46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d675b4c6440f5" /><Relationship Type="http://schemas.openxmlformats.org/officeDocument/2006/relationships/image" Target="/ppt/media/image.png" Id="Rb2dc0b0bc95e428c" /><Relationship Type="http://schemas.openxmlformats.org/officeDocument/2006/relationships/image" Target="/ppt/media/image2.png" Id="R736666d21a834e47" /><Relationship Type="http://schemas.openxmlformats.org/officeDocument/2006/relationships/notesSlide" Target="/ppt/notesSlides/notesSlide1.xml" Id="R897da446f9f145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1e1e52e434c61" /><Relationship Type="http://schemas.openxmlformats.org/officeDocument/2006/relationships/notesSlide" Target="/ppt/notesSlides/notesSlide2.xml" Id="Rfffce8185b8b49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c253b8b5b40a0" /><Relationship Type="http://schemas.openxmlformats.org/officeDocument/2006/relationships/notesSlide" Target="/ppt/notesSlides/notesSlide3.xml" Id="Rcac5603bfb6c41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da13ce48c405d" /><Relationship Type="http://schemas.openxmlformats.org/officeDocument/2006/relationships/image" Target="/ppt/media/image3.png" Id="Rd48e555ab95e4465" /><Relationship Type="http://schemas.openxmlformats.org/officeDocument/2006/relationships/notesSlide" Target="/ppt/notesSlides/notesSlide4.xml" Id="Recc5ae15142d44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eab02e73b4fa3" /><Relationship Type="http://schemas.openxmlformats.org/officeDocument/2006/relationships/notesSlide" Target="/ppt/notesSlides/notesSlide5.xml" Id="R3143f0aae03149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8bb7326f64a77" /><Relationship Type="http://schemas.openxmlformats.org/officeDocument/2006/relationships/notesSlide" Target="/ppt/notesSlides/notesSlide6.xml" Id="Rc417f9f74fc049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bff90d0634723" /><Relationship Type="http://schemas.openxmlformats.org/officeDocument/2006/relationships/notesSlide" Target="/ppt/notesSlides/notesSlide7.xml" Id="R4dab2aa07e3a4d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f5650a4b3493c" /><Relationship Type="http://schemas.openxmlformats.org/officeDocument/2006/relationships/notesSlide" Target="/ppt/notesSlides/notesSlide8.xml" Id="Rfe179dff347944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c37854c344fba" /><Relationship Type="http://schemas.openxmlformats.org/officeDocument/2006/relationships/notesSlide" Target="/ppt/notesSlides/notesSlide9.xml" Id="R050143df7bd64a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262a2fd8c4457" /><Relationship Type="http://schemas.openxmlformats.org/officeDocument/2006/relationships/notesSlide" Target="/ppt/notesSlides/notesSlide10.xml" Id="Rc155f43e8a6a44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61e4adbd44ffc" /><Relationship Type="http://schemas.openxmlformats.org/officeDocument/2006/relationships/notesSlide" Target="/ppt/notesSlides/notesSlide11.xml" Id="R3474d15abe0e44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c0b0bc95e428c"/>
          <a:stretch xmlns:a="http://schemas.openxmlformats.org/drawingml/2006/main"/>
        </p:blipFill>
        <p:spPr>
          <a:xfrm xmlns:a="http://schemas.openxmlformats.org/drawingml/2006/main">
            <a:off x="590550" y="5905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5F3A7-7A5C-4E86-ADF9-34FBDBC0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010"/>
                </a:solidFill>
              </a:defRPr>
            </a:pPr>
            <a:r>
              <a:rPr sz="3600" b="1">
                <a:solidFill>
                  <a:srgbClr val="101010"/>
                </a:solidFill>
              </a:rPr>
              <a:t>Paste 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26C7E-9FC0-4814-B168-6A38B3BF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E6E73"/>
                </a:solidFill>
              </a:defRPr>
            </a:pPr>
            <a:r>
              <a:rPr sz="1725" b="0">
                <a:solidFill>
                  <a:srgbClr val="6E6E73"/>
                </a:solidFill>
              </a:rPr>
              <a:t>AIツール連携の便利さと、UI/UXから見える評価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046BE-4C59-4DDB-ABED-7BF75BE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</a:rPr>
              <a:t>Claude / Codex / Cursorなどから、Pasteのクリップボード履歴を“作業文脈”として使う体験を評価する。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666d21a834e47"/>
          <a:srcRect xmlns:a="http://schemas.openxmlformats.org/drawingml/2006/main" l="7596" t="0" r="75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009650"/>
            <a:ext cx="40005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4DCC5-FA43-48E9-8CC3-955F4B18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977A8-7221-435F-BA07-D77B2EBE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62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6E6E73"/>
                </a:solidFill>
              </a:defRPr>
            </a:pPr>
            <a:r>
              <a:rPr sz="788" b="1">
                <a:solidFill>
                  <a:srgbClr val="6E6E73"/>
                </a:solidFill>
              </a:rPr>
              <a:t>A4 landscape / PPTX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57B0E-ED27-4F2A-991E-337FFCBC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1235B-2E99-40CE-9E87-8C9EAE09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00475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6E6E73"/>
                </a:solidFill>
              </a:defRPr>
            </a:pPr>
            <a:r>
              <a:rPr sz="788" b="1">
                <a:solidFill>
                  <a:srgbClr val="6E6E73"/>
                </a:solidFill>
              </a:rPr>
              <a:t>2026-06-27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78B53-F12A-4666-9AE8-6C4BAAB3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723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Sources: pasteapp.io/mcp, App Store, Setapp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3759E-363F-4A2A-A76D-28D4A39D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2199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487107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D21DF-B5D5-49A3-906A-121567C0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E8E93"/>
                </a:solidFill>
              </a:defRPr>
            </a:pPr>
            <a:r>
              <a:rPr sz="675" b="1">
                <a:solidFill>
                  <a:srgbClr val="8E8E93"/>
                </a:solidFill>
              </a:rPr>
              <a:t>PASTE MCP UX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51140-C4C6-42FB-9B0C-4A5301FA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010"/>
                </a:solidFill>
              </a:defRPr>
            </a:pPr>
            <a:r>
              <a:rPr sz="2400" b="1">
                <a:solidFill>
                  <a:srgbClr val="101010"/>
                </a:solidFill>
              </a:rPr>
              <a:t>まず結論: MCPの価値は“コピー履歴をAIの作業記憶に変える”こと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66F87-7143-46A7-946D-64B36DB4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333875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F69F6-212E-4E79-B2CA-76186CEF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便利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DED23-5AA0-433B-8F7C-9F7D9403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AIツール内で過去のコピー、リンク、メモ、ファイル断片を探せる。アプリ切り替えと再検索が減る。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A7C10-C777-4C12-9AAB-8F1526E1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66850"/>
            <a:ext cx="4333875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18379-5BBE-4455-ADA9-89FE0CA0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簡単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5DBF1-1567-433A-BDB3-64E7CCCA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764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Paste側はSettings -&gt; MCP &amp; AI Tools -&gt; Enable -&gt; Connectという短い導線。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8A751-99C0-4046-A2DA-5DD796BD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333875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8E9E6-7715-4B08-9346-903D6AA2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383C"/>
                </a:solidFill>
              </a:defRPr>
            </a:pPr>
            <a:r>
              <a:rPr sz="1875" b="1">
                <a:solidFill>
                  <a:srgbClr val="FF383C"/>
                </a:solidFill>
              </a:rPr>
              <a:t>不安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A8873-C83D-4CF4-95A5-5A80FE45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クリップボード履歴はセンシティブ。ローカル/承認制は良いが、何が渡ったかの透明性が鍵。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500BC-BE4D-47AB-BCF6-DC3EE6AB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76600"/>
            <a:ext cx="4333875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C6249-49C1-42CE-890D-338712AB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86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物足りない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907F4-B396-4ECF-885A-D481F17A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862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開発コマンドの危険度、リッチ/プレーン判別、貼る前の説明までは主役ではない。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6FD91-8950-4D0C-919F-9E757DAE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評価仮説: “便利で自然”だが、“開発者が貼る前に判断するためのUI”としては余白がある。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4342B-7E43-4AED-9CB7-6BCFA64D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723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Sources: Paste MCP page lines 26-33, 51-70, 81-94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EB8B8-5EBB-421D-91C3-CE368BD4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2199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65525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CF2767-0F21-4D8F-B84E-626FC75A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E8E93"/>
                </a:solidFill>
              </a:defRPr>
            </a:pPr>
            <a:r>
              <a:rPr sz="675" b="1">
                <a:solidFill>
                  <a:srgbClr val="8E8E93"/>
                </a:solidFill>
              </a:rPr>
              <a:t>PASTE MCP UX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B30F8-219D-4507-8823-63337109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010"/>
                </a:solidFill>
              </a:defRPr>
            </a:pPr>
            <a:r>
              <a:rPr sz="2400" b="1">
                <a:solidFill>
                  <a:srgbClr val="101010"/>
                </a:solidFill>
              </a:rPr>
              <a:t>実務シーン: AIツール内で履歴を呼び出す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09EDD-6A4C-4012-8201-EF2AAA8C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8C01C-734E-4966-97CA-F9392096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195D8-5D5E-4278-B2F5-6E04927D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050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80734-03E3-4272-900F-9929FC0D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010"/>
                </a:solidFill>
              </a:defRPr>
            </a:pPr>
            <a:r>
              <a:rPr sz="1650" b="1">
                <a:solidFill>
                  <a:srgbClr val="101010"/>
                </a:solidFill>
              </a:rPr>
              <a:t>コピーが蓄積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1BF27-EF06-44DB-8338-70A196DF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</a:defRPr>
            </a:pPr>
            <a:r>
              <a:rPr sz="1050" b="0">
                <a:solidFill>
                  <a:srgbClr val="6E6E73"/>
                </a:solidFill>
              </a:rPr>
              <a:t>ドキュメント、AI回答、エラー、URL、メモがPasteに残る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BD028-7EE5-499A-863D-A0172169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00350"/>
            <a:ext cx="3238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C282E-15A3-422B-91CE-41BBBC38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0020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BA09E-5561-4751-BD84-743FD1E3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2A8A7-E3A8-4D58-99E9-1346B000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050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B6905-D2DF-461A-A7E3-88925626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010"/>
                </a:solidFill>
              </a:defRPr>
            </a:pPr>
            <a:r>
              <a:rPr sz="1650" b="1">
                <a:solidFill>
                  <a:srgbClr val="101010"/>
                </a:solidFill>
              </a:rPr>
              <a:t>AIへ依頼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63A05-B023-4602-A0DA-B819BC58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337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</a:defRPr>
            </a:pPr>
            <a:r>
              <a:rPr sz="1050" b="0">
                <a:solidFill>
                  <a:srgbClr val="6E6E73"/>
                </a:solidFill>
              </a:rPr>
              <a:t>“今日コピーしたメモから更新文を作って”と頼む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A7A42-8873-4892-BB65-3AC79E01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3238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671D9-761D-4F49-8AEF-6CECFDBF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0020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01A68-8E7D-4C7E-92A6-FF05A0DA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09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46912-83D0-44E6-AF3A-30E05E5B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9050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AC73B-82AC-4CD9-B024-DA9CCC97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010"/>
                </a:solidFill>
              </a:defRPr>
            </a:pPr>
            <a:r>
              <a:rPr sz="1650" b="1">
                <a:solidFill>
                  <a:srgbClr val="101010"/>
                </a:solidFill>
              </a:rPr>
              <a:t>Pasteを検索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D512B-1C56-4D4F-9AB1-A90BAFE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337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</a:defRPr>
            </a:pPr>
            <a:r>
              <a:rPr sz="1050" b="0">
                <a:solidFill>
                  <a:srgbClr val="6E6E73"/>
                </a:solidFill>
              </a:rPr>
              <a:t>MCP経由でAIが履歴やPinboardを探す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52FC4-E06D-4BD8-B40C-DB5A70C9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3238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E82F6B-4D36-4F78-80CD-46039A6D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0020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A932D-C486-47D7-A8DB-63C37EEB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EE324-0C9F-4A7F-BD34-51EF010E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050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2C0F2-D3C7-41E2-8D77-1CCB1C31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57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010"/>
                </a:solidFill>
              </a:defRPr>
            </a:pPr>
            <a:r>
              <a:rPr sz="1650" b="1">
                <a:solidFill>
                  <a:srgbClr val="101010"/>
                </a:solidFill>
              </a:rPr>
              <a:t>成果物へ変換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3E766C-40E1-4691-A0A0-A4DEFB15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</a:defRPr>
            </a:pPr>
            <a:r>
              <a:rPr sz="1050" b="0">
                <a:solidFill>
                  <a:srgbClr val="6E6E73"/>
                </a:solidFill>
              </a:rPr>
              <a:t>要約、構成案、Pinboard整理、保存までつながる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58FE7A-B30F-4F9F-98D2-2A3114DF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010"/>
                </a:solidFill>
              </a:defRPr>
            </a:pPr>
            <a:r>
              <a:rPr sz="1500" b="0">
                <a:solidFill>
                  <a:srgbClr val="101010"/>
                </a:solidFill>
              </a:rPr>
              <a:t>操作感としては、クリップボードアプリを開いて探すのではなく、AIチャット/エディタ側から自然言語で履歴を使う体験に変わる。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E09CDA-6A67-40FC-9935-867390BF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723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Sources: Paste MCP examples: draft updates, research structure, recap, pinboards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17EC6D-3BCF-4921-95A5-58AC522E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2199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744081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48E12F-8C1A-42C0-9231-A5A86EA7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E8E93"/>
                </a:solidFill>
              </a:defRPr>
            </a:pPr>
            <a:r>
              <a:rPr sz="675" b="1">
                <a:solidFill>
                  <a:srgbClr val="8E8E93"/>
                </a:solidFill>
              </a:rPr>
              <a:t>PASTE MCP UX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AD6A2-FA2D-470F-A20E-5B9A1B56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010"/>
                </a:solidFill>
              </a:defRPr>
            </a:pPr>
            <a:r>
              <a:rPr sz="2400" b="1">
                <a:solidFill>
                  <a:srgbClr val="101010"/>
                </a:solidFill>
              </a:rPr>
              <a:t>セットアップUX: 良いが、ツールごとに摩擦が違う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e555ab95e4465"/>
          <a:stretch xmlns:a="http://schemas.openxmlformats.org/drawingml/2006/main"/>
        </p:blipFill>
        <p:spPr>
          <a:xfrm xmlns:a="http://schemas.openxmlformats.org/drawingml/2006/main">
            <a:off x="666750" y="1296936"/>
            <a:ext cx="4476750" cy="4187927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C2C70-2C7B-4391-9E68-6564D0F1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81125"/>
            <a:ext cx="4191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6B906-EEDD-4AFE-BBC8-445B14C0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33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010"/>
                </a:solidFill>
              </a:defRPr>
            </a:pPr>
            <a:r>
              <a:rPr sz="1425" b="1">
                <a:solidFill>
                  <a:srgbClr val="101010"/>
                </a:solidFill>
              </a:rPr>
              <a:t>Claude Desktop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66A6B-9FCA-4F35-B5AF-0BA14234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43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E6E73"/>
                </a:solidFill>
              </a:defRPr>
            </a:pPr>
            <a:r>
              <a:rPr sz="938" b="0">
                <a:solidFill>
                  <a:srgbClr val="6E6E73"/>
                </a:solidFill>
              </a:rPr>
              <a:t>Install Extension -&gt; Claudeで確認 -&gt; 有効化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91464-B406-41BC-A045-7B59B948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954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01010"/>
                </a:solidFill>
              </a:defRPr>
            </a:pPr>
            <a:r>
              <a:rPr sz="1013" b="0">
                <a:solidFill>
                  <a:srgbClr val="101010"/>
                </a:solidFill>
              </a:rPr>
              <a:t>GUI中心で理解しやすいが、標準警告は初心者に不安を与える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2AD3A-1C4C-406D-8057-4163899E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38425"/>
            <a:ext cx="4191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371A4-40A5-414E-9BD9-78B117E3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90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010"/>
                </a:solidFill>
              </a:defRPr>
            </a:pPr>
            <a:r>
              <a:rPr sz="1425" b="1">
                <a:solidFill>
                  <a:srgbClr val="101010"/>
                </a:solidFill>
              </a:rPr>
              <a:t>Cursor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C3840-5B94-46BB-8FB4-2E2ECF67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E6E73"/>
                </a:solidFill>
              </a:defRPr>
            </a:pPr>
            <a:r>
              <a:rPr sz="938" b="0">
                <a:solidFill>
                  <a:srgbClr val="6E6E73"/>
                </a:solidFill>
              </a:rPr>
              <a:t>Connect -&gt; Cursor起動 -&gt; ブラウザで承認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8D4B1-85C5-4A79-9777-0C40DA27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527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01010"/>
                </a:solidFill>
              </a:defRPr>
            </a:pPr>
            <a:r>
              <a:rPr sz="1013" b="0">
                <a:solidFill>
                  <a:srgbClr val="101010"/>
                </a:solidFill>
              </a:rPr>
              <a:t>エディタ連携らしいが、アプリ/ブラウザを跨ぐ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86190-A5BE-44BB-B8B7-2E2B1922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95725"/>
            <a:ext cx="4191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D7DF6-261A-40DE-B133-40AEC639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481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010"/>
                </a:solidFill>
              </a:defRPr>
            </a:pPr>
            <a:r>
              <a:rPr sz="1425" b="1">
                <a:solidFill>
                  <a:srgbClr val="101010"/>
                </a:solidFill>
              </a:rPr>
              <a:t>Codex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C5D4D-BFA5-4776-AE2B-AD6D544E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57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E6E73"/>
                </a:solidFill>
              </a:defRPr>
            </a:pPr>
            <a:r>
              <a:rPr sz="938" b="0">
                <a:solidFill>
                  <a:srgbClr val="6E6E73"/>
                </a:solidFill>
              </a:rPr>
              <a:t>PasteがTerminalコマンドを表示 -&gt; コピーして実行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B8C11-1E18-4D4B-8E13-5B019470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100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01010"/>
                </a:solidFill>
              </a:defRPr>
            </a:pPr>
            <a:r>
              <a:rPr sz="1013" b="0">
                <a:solidFill>
                  <a:srgbClr val="101010"/>
                </a:solidFill>
              </a:rPr>
              <a:t>開発者向けには明快。ただし非ターミナル慣れユーザーには怖い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319D7-EB83-406B-884C-BF2FF0CA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723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Sources: Paste help pages for Codex, Cursor, Claude Desktop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5717F-4E53-41A1-A628-EB634EE8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2199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445653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48AC24-0FDD-47C7-A2FC-BD82C970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E8E93"/>
                </a:solidFill>
              </a:defRPr>
            </a:pPr>
            <a:r>
              <a:rPr sz="675" b="1">
                <a:solidFill>
                  <a:srgbClr val="8E8E93"/>
                </a:solidFill>
              </a:rPr>
              <a:t>PASTE MCP UX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B6CE9-4D0E-441B-B4D4-432C0F76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010"/>
                </a:solidFill>
              </a:defRPr>
            </a:pPr>
            <a:r>
              <a:rPr sz="2400" b="1">
                <a:solidFill>
                  <a:srgbClr val="101010"/>
                </a:solidFill>
              </a:rPr>
              <a:t>便利な作業パターン: どこで効くか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96CDD-D6E8-4864-9603-D9991FC4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A177A-FF09-4EC4-89B2-2B1CD546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010"/>
                </a:solidFill>
              </a:defRPr>
            </a:pPr>
            <a:r>
              <a:rPr sz="1425" b="1">
                <a:solidFill>
                  <a:srgbClr val="101010"/>
                </a:solidFill>
              </a:rPr>
              <a:t>会議/メモ -&gt;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18A5B-9DA9-45BD-9140-3CAA5AF3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1010"/>
                </a:solidFill>
              </a:defRPr>
            </a:pPr>
            <a:r>
              <a:rPr sz="1125" b="0">
                <a:solidFill>
                  <a:srgbClr val="101010"/>
                </a:solidFill>
              </a:rPr>
              <a:t>コピーしたメモを探し、チーム更新文・議事録・要約へ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0F04C-1BA9-49C5-8291-9B3C1634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240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9B410-21BE-4D46-8A70-188A16D8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90675"/>
            <a:ext cx="1352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6E6E73"/>
                </a:solidFill>
              </a:defRPr>
            </a:pPr>
            <a:r>
              <a:rPr sz="788" b="1">
                <a:solidFill>
                  <a:srgbClr val="6E6E73"/>
                </a:solidFill>
              </a:rPr>
              <a:t>アプリ切替削減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2E901-885B-490D-B2D7-A55E348E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9334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454A2-824F-41CA-AB2A-6EFDD4C3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010"/>
                </a:solidFill>
              </a:defRPr>
            </a:pPr>
            <a:r>
              <a:rPr sz="1425" b="1">
                <a:solidFill>
                  <a:srgbClr val="101010"/>
                </a:solidFill>
              </a:rPr>
              <a:t>リサーチ -&gt; 構成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F5A38-9A75-4AD0-B5BE-95861F48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193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1010"/>
                </a:solidFill>
              </a:defRPr>
            </a:pPr>
            <a:r>
              <a:rPr sz="1125" b="0">
                <a:solidFill>
                  <a:srgbClr val="101010"/>
                </a:solidFill>
              </a:rPr>
              <a:t>今週コピーしたリンクや資料断片からプレゼン構成を作る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C8B50-6278-4D78-AF10-30422A10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00A00-04BA-4420-AA82-BCA09B1E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1352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6E6E73"/>
                </a:solidFill>
              </a:defRPr>
            </a:pPr>
            <a:r>
              <a:rPr sz="788" b="1">
                <a:solidFill>
                  <a:srgbClr val="6E6E73"/>
                </a:solidFill>
              </a:rPr>
              <a:t>散らかった情報の再利用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09025-715D-4F28-9766-20338784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9334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31863-9719-4651-A837-910D8863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010"/>
                </a:solidFill>
              </a:defRPr>
            </a:pPr>
            <a:r>
              <a:rPr sz="1425" b="1">
                <a:solidFill>
                  <a:srgbClr val="101010"/>
                </a:solidFill>
              </a:rPr>
              <a:t>日次作業 -&gt; ふり返り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95E26-829E-49CC-83E2-166C16DC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33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1010"/>
                </a:solidFill>
              </a:defRPr>
            </a:pPr>
            <a:r>
              <a:rPr sz="1125" b="0">
                <a:solidFill>
                  <a:srgbClr val="101010"/>
                </a:solidFill>
              </a:rPr>
              <a:t>今日のコピー履歴から作業ログを要約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07D12-D052-403E-AFEE-B3624C16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528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908EC-9CD5-4213-8E1C-CE792841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19475"/>
            <a:ext cx="1352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6E6E73"/>
                </a:solidFill>
              </a:defRPr>
            </a:pPr>
            <a:r>
              <a:rPr sz="788" b="1">
                <a:solidFill>
                  <a:srgbClr val="6E6E73"/>
                </a:solidFill>
              </a:rPr>
              <a:t>行動履歴の再構成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31768-ED7E-4DE7-ABBF-B78BFBC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9334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92341-B082-4E79-80F5-5DDDC656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010"/>
                </a:solidFill>
              </a:defRPr>
            </a:pPr>
            <a:r>
              <a:rPr sz="1425" b="1">
                <a:solidFill>
                  <a:srgbClr val="101010"/>
                </a:solidFill>
              </a:rPr>
              <a:t>プロジェクト整理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26200-3E96-4925-8E5B-A0A707A0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48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1010"/>
                </a:solidFill>
              </a:defRPr>
            </a:pPr>
            <a:r>
              <a:rPr sz="1125" b="0">
                <a:solidFill>
                  <a:srgbClr val="101010"/>
                </a:solidFill>
              </a:rPr>
              <a:t>関連クリップを探してPinboard化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DC768-09F4-4AE6-890F-D4214162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3DA50-1FF5-4358-911C-999A5DA9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33875"/>
            <a:ext cx="1352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6E6E73"/>
                </a:solidFill>
              </a:defRPr>
            </a:pPr>
            <a:r>
              <a:rPr sz="788" b="1">
                <a:solidFill>
                  <a:srgbClr val="6E6E73"/>
                </a:solidFill>
              </a:rPr>
              <a:t>一時履歴から保存資産へ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C1A5BA-7095-4B84-AF6D-0E0B9529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9334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D4978-0E53-4B30-BAEA-C03BDBF6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9400"/>
                </a:solidFill>
              </a:defRPr>
            </a:pPr>
            <a:r>
              <a:rPr sz="1425" b="1">
                <a:solidFill>
                  <a:srgbClr val="FF9400"/>
                </a:solidFill>
              </a:rPr>
              <a:t>開発中の文脈共有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848DDE-B0A0-4526-8A43-42BC046D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62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1010"/>
                </a:solidFill>
              </a:defRPr>
            </a:pPr>
            <a:r>
              <a:rPr sz="1125" b="0">
                <a:solidFill>
                  <a:srgbClr val="101010"/>
                </a:solidFill>
              </a:rPr>
              <a:t>エラー、URL、仕様断片をAIに探させる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2D0F32-47E8-4B2E-B413-0194BE44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816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62A4C6-59FA-4CEB-BBF1-F39D4DE7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48275"/>
            <a:ext cx="1352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AIへの再説明コスト削減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7C9001-B805-46A4-AA1A-3B475025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723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Sources: Paste MCP use-case prompts and FAQ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D8607-B79C-41C3-BE49-33B898A3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2199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99370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4AC04C-F0BA-4DD0-882C-2B74174D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E8E93"/>
                </a:solidFill>
              </a:defRPr>
            </a:pPr>
            <a:r>
              <a:rPr sz="675" b="1">
                <a:solidFill>
                  <a:srgbClr val="8E8E93"/>
                </a:solidFill>
              </a:rPr>
              <a:t>PASTE MCP UX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90264-A9F6-49C8-970D-9125FAE7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010"/>
                </a:solidFill>
              </a:defRPr>
            </a:pPr>
            <a:r>
              <a:rPr sz="2400" b="1">
                <a:solidFill>
                  <a:srgbClr val="101010"/>
                </a:solidFill>
              </a:rPr>
              <a:t>UI/UX評価: 操作感ベース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31722-C49F-48EB-97C7-F4FD120F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92392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E9CA4-D256-49DC-9C49-2FF2629B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525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E6E73"/>
                </a:solidFill>
              </a:defRPr>
            </a:pPr>
            <a:r>
              <a:rPr sz="900" b="1">
                <a:solidFill>
                  <a:srgbClr val="6E6E73"/>
                </a:solidFill>
              </a:rPr>
              <a:t>導入の分かりやすさ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645E1-F978-4F4A-9269-6D40B8A6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8FA30-11C4-4033-9374-66EC82A7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BBBB9-C20E-43C9-B506-583E38E6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52353-FD54-40FF-A54F-FC7E3AFC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5960B-2DE7-476C-A60F-E6453F83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3C51B-BC39-469A-909C-C7A46590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954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010"/>
                </a:solidFill>
              </a:defRPr>
            </a:pPr>
            <a:r>
              <a:rPr sz="1050" b="0">
                <a:solidFill>
                  <a:srgbClr val="101010"/>
                </a:solidFill>
              </a:rPr>
              <a:t>設定画面にMCP専用項目があり、Enable/Connect/Connected Toolsが一画面で見える。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BCB1C-AAC0-4AA6-9C4B-BDF7B3AB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92392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C488A-E75A-43B3-A00E-AD3E000B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E6E73"/>
                </a:solidFill>
              </a:defRPr>
            </a:pPr>
            <a:r>
              <a:rPr sz="900" b="1">
                <a:solidFill>
                  <a:srgbClr val="6E6E73"/>
                </a:solidFill>
              </a:rPr>
              <a:t>日常作業への自然さ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FF170-C470-4F1D-B078-275AFE89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47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24E95-FF61-403A-9CE7-EAFC3426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47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2A6E0-71C8-4ADA-BE8A-5CC4DB43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47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EBAD1-80E7-428E-8219-5D72A278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47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9BFB-C453-41BE-9128-A03440FE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47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E4A60-D35F-43E7-B34F-92B224A8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010"/>
                </a:solidFill>
              </a:defRPr>
            </a:pPr>
            <a:r>
              <a:rPr sz="1050" b="0">
                <a:solidFill>
                  <a:srgbClr val="101010"/>
                </a:solidFill>
              </a:rPr>
              <a:t>AIツール側から自然言語で履歴を使えるため、Pasteを開く回数が減る。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C91B6-4A12-4CED-B5C3-C2E88586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92392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EDB67-8A13-479D-A142-EE2D7B14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242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E6E73"/>
                </a:solidFill>
              </a:defRPr>
            </a:pPr>
            <a:r>
              <a:rPr sz="900" b="1">
                <a:solidFill>
                  <a:srgbClr val="6E6E73"/>
                </a:solidFill>
              </a:rPr>
              <a:t>安心感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89097-25F8-4D79-9CF3-9489D876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0446C-193D-4BE4-889B-1A8E4E4A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3EB60-85E7-45D5-82D7-4BAB8463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A15BD-A3A7-4A9B-9BD8-9C9454F7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9C058-3A51-4EA9-821B-3488E29B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323813-0089-4AFB-B3A7-5743F17B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67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010"/>
                </a:solidFill>
              </a:defRPr>
            </a:pPr>
            <a:r>
              <a:rPr sz="1050" b="0">
                <a:solidFill>
                  <a:srgbClr val="101010"/>
                </a:solidFill>
              </a:rPr>
              <a:t>ローカル実行・承認制は良い。ただしAIがどの履歴を参照したかの可視化はもっと欲しい。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16C9F5-C610-44A9-BFF7-C6196D4D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92392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D90E01-BF23-4B08-84A6-4AA80334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E6E73"/>
                </a:solidFill>
              </a:defRPr>
            </a:pPr>
            <a:r>
              <a:rPr sz="900" b="1">
                <a:solidFill>
                  <a:srgbClr val="6E6E73"/>
                </a:solidFill>
              </a:rPr>
              <a:t>開発者向け深さ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A3655-E56E-4ACE-8085-A68E09F2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19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2E861B-B862-41D9-A8AE-B4515AFD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19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10DAA2-4A57-4D4B-B64E-D250A9B2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9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5CB79A-7708-45E6-BFF5-980877A0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19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4CFE84-51C7-494D-8C45-E1589B1D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19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414553-8753-47B2-AED6-D12FEE21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010"/>
                </a:solidFill>
              </a:defRPr>
            </a:pPr>
            <a:r>
              <a:rPr sz="1050" b="0">
                <a:solidFill>
                  <a:srgbClr val="101010"/>
                </a:solidFill>
              </a:rPr>
              <a:t>コマンド理解、危険度、スニペット説明はPasteの主戦場ではない。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30B018-7E40-4F50-91FA-B877AFAA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92392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F7B98E-A348-4552-AD6B-979C3914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958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E6E73"/>
                </a:solidFill>
              </a:defRPr>
            </a:pPr>
            <a:r>
              <a:rPr sz="900" b="1">
                <a:solidFill>
                  <a:srgbClr val="6E6E73"/>
                </a:solidFill>
              </a:rPr>
              <a:t>初心者への優しさ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FD48D4-BA3F-435D-9F78-F79A8186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05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D532CD-64EC-48E1-9797-A02C58A2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05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42392B-AD58-47CF-804A-B586F8AA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05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AF308E-6E21-436A-8288-F9A63085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105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F34E10-BDBF-417B-916C-420609E6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05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1CCA37-CD1D-4124-B778-848FF487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387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010"/>
                </a:solidFill>
              </a:defRPr>
            </a:pPr>
            <a:r>
              <a:rPr sz="1050" b="0">
                <a:solidFill>
                  <a:srgbClr val="101010"/>
                </a:solidFill>
              </a:rPr>
              <a:t>Claude/CursorはGUI寄り。CodexのTerminalコマンド実行は人を選ぶ。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483ABE-A3A7-4CDA-A36C-3E397C8D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723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Assessment based on official setup flow, MCP page, and Paste product UX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7BD01F-6A30-483C-B0BD-F24E25AD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2199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57894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4DF57-C582-4594-B8E1-26B857D3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E8E93"/>
                </a:solidFill>
              </a:defRPr>
            </a:pPr>
            <a:r>
              <a:rPr sz="675" b="1">
                <a:solidFill>
                  <a:srgbClr val="8E8E93"/>
                </a:solidFill>
              </a:rPr>
              <a:t>PASTE MCP UX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7AA3E-4838-401A-9EBF-ED5A61F6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010"/>
                </a:solidFill>
              </a:defRPr>
            </a:pPr>
            <a:r>
              <a:rPr sz="2400" b="1">
                <a:solidFill>
                  <a:srgbClr val="101010"/>
                </a:solidFill>
              </a:rPr>
              <a:t>口コミから見える“強いUX”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A5E93-85AB-4278-B60D-A5B5E16E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4286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2D0F4-3F67-41DC-B8D9-2BEF2B68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ショートカットで開き、すぐ貼れる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53B3F-0629-474F-B07A-4A7A675A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6E6E73"/>
                </a:solidFill>
              </a:defRPr>
            </a:pPr>
            <a:r>
              <a:rPr sz="1088" b="0">
                <a:solidFill>
                  <a:srgbClr val="6E6E73"/>
                </a:solidFill>
              </a:rPr>
              <a:t>ユーザーは“呼び出し -&gt; 即ペースト”を強く評価。操作が身体化しやすい。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891BE-9F77-4C44-8328-01DC9B74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4286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FBDDA-A007-45D9-ABD8-EC6842F1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57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HEXカラーがカード化される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A311E-040F-4C8B-AA50-61E78D23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193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6E6E73"/>
                </a:solidFill>
              </a:defRPr>
            </a:pPr>
            <a:r>
              <a:rPr sz="1088" b="0">
                <a:solidFill>
                  <a:srgbClr val="6E6E73"/>
                </a:solidFill>
              </a:rPr>
              <a:t>デザイナーにとって、コピー内容の意味が見た目で分かるのは大きい。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9AB4C-31D9-434F-8030-CEBBBB0E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4286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A0AD6-6D74-4A2A-ABD2-C39C8563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カテゴリ/Pinboardが便利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248CA-A47B-4C42-B635-AB617876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6E6E73"/>
                </a:solidFill>
              </a:defRPr>
            </a:pPr>
            <a:r>
              <a:rPr sz="1088" b="0">
                <a:solidFill>
                  <a:srgbClr val="6E6E73"/>
                </a:solidFill>
              </a:rPr>
              <a:t>よく使うテキスト、リンク、HEX、定型返信を保存資産に変える。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82B05-0158-415A-BC7D-5BB2E02F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38500"/>
            <a:ext cx="4286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729E6-C2D0-46C2-A1A4-0A78C204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671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複数コピーをまとめて貼れる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C3BD4-C612-4EBB-8B4B-A7DD4003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290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6E6E73"/>
                </a:solidFill>
              </a:defRPr>
            </a:pPr>
            <a:r>
              <a:rPr sz="1088" b="0">
                <a:solidFill>
                  <a:srgbClr val="6E6E73"/>
                </a:solidFill>
              </a:rPr>
              <a:t>ニュースレターやフォーム入力など反復作業に効く。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99580-A062-4C17-9642-D3296C09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MCPでも同じ原則が重要: AI連携の前に、まず“何が保存され、どう再利用されるか”が視覚的に分かること。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564C8-E35D-4F50-AD7D-4AA6894B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723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Sources: App Store reviews lines 80-93, 130-143; Setapp reviews lines 123-145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A0207-91C8-4E37-8B9F-7A2E1331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2199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49921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1B4792-A58C-4A54-999C-3562F943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E8E93"/>
                </a:solidFill>
              </a:defRPr>
            </a:pPr>
            <a:r>
              <a:rPr sz="675" b="1">
                <a:solidFill>
                  <a:srgbClr val="8E8E93"/>
                </a:solidFill>
              </a:rPr>
              <a:t>PASTE MCP UX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2BFA3-D468-4424-BFBD-053EA7D7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010"/>
                </a:solidFill>
              </a:defRPr>
            </a:pPr>
            <a:r>
              <a:rPr sz="2400" b="1">
                <a:solidFill>
                  <a:srgbClr val="101010"/>
                </a:solidFill>
              </a:rPr>
              <a:t>口コミから見える“不満・リスク”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34A5C-F781-4AFF-8617-7554ECDE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8763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DC18B-7F4D-4F36-BDA0-59BB87DE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81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常駐監視アプリの不安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1DC89-450B-49D4-9DA1-B15136FA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81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クリップボード全体を見る性質上、AI連携ではさらに説明責任が増える。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72494-B6DC-433C-95B1-92BE158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8763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D7930-57D3-4CCA-93F2-39181814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サブスクの納得感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3FD96-9657-453D-A9AF-7AC5A919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価格自体より、“新機能として実感できる価値”が必要。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1B904-1CE5-43AE-B8E3-B4E145A1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8763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C51A0-DE14-4728-BCAA-AC26528A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383C"/>
                </a:solidFill>
              </a:defRPr>
            </a:pPr>
            <a:r>
              <a:rPr sz="1500" b="1">
                <a:solidFill>
                  <a:srgbClr val="FF383C"/>
                </a:solidFill>
              </a:rPr>
              <a:t>不具合時の信頼低下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D3E25-C50C-4289-987B-9A382930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コピー音のループやサポート不満のレビューがあり、常駐ツールは不具合が致命的。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AEA91-7608-4798-84D8-D96FFAD1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8763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B559A-515F-42C7-B07D-D02C11DB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密度調整への要望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882C3-82FB-4CBC-89ED-1CBE476D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244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カードが美しい一方、もっと多く見たい/テキストだけ見たいという声もある。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83CF2-0CFF-48B0-ACE8-D0BD3262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723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Sources: App Store reviews lines 94-118, 128, 135-136; Lifewire on clipboard privacy concerns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D90C0-FF52-43A5-8625-B14FF352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2199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027517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8290F8-CEE3-4DF7-A090-C9F77F35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E8E93"/>
                </a:solidFill>
              </a:defRPr>
            </a:pPr>
            <a:r>
              <a:rPr sz="675" b="1">
                <a:solidFill>
                  <a:srgbClr val="8E8E93"/>
                </a:solidFill>
              </a:rPr>
              <a:t>PASTE MCP UX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AC022-9C82-4F11-AAC6-AD3815EE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010"/>
                </a:solidFill>
              </a:defRPr>
            </a:pPr>
            <a:r>
              <a:rPr sz="2400" b="1">
                <a:solidFill>
                  <a:srgbClr val="101010"/>
                </a:solidFill>
              </a:rPr>
              <a:t>MCP体験で評価しにくい/不足しやすい点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DEB97-6047-4C70-A478-20939090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47800"/>
            <a:ext cx="4191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78669-DFE5-484A-8FAF-18242FD2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参照範囲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C8056-D61B-4257-82D4-5FE3C977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AIがどの履歴・Pinboard・期間を見たのか、ユーザーが後から確認できるか。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1F869-D59C-4A6E-BCD4-740CDBD8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47800"/>
            <a:ext cx="4191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64062-E2D1-458E-B905-5222B880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573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結果の説明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9B2A2-429A-4FD7-A703-D16DCA9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383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AIがPasteから何を根拠に出力したかが見えないと、便利だがブラックボックス化する。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1A2DE-C395-474D-B277-31CBCDCC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4191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1B533-815C-4077-B060-396F74E0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権限の粒度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28EC4-6249-445F-AC05-B8AA7C01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“接続済み”だけでなく、検索のみ/保存可/Pinboard管理可などの権限が見えるか。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439B1-D527-426A-ACB3-81D89922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95650"/>
            <a:ext cx="4191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E4628-6DC3-45F8-A121-9981D48C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05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開発作業への安全性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44D56-567D-4224-B6B1-E7F39C19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コマンドやファイルパスを扱う時、危険度や置換すべき値を説明してくれるか。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51A0C3-6771-4B07-853A-8189D950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723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UX evaluation: inferred from Paste MCP official flow and common MCP tool-use risks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4280A-6C48-4CE3-B151-C2DAF0B6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2199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720586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59F92A-1C9B-42DD-AF0F-A476733A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E8E93"/>
                </a:solidFill>
              </a:defRPr>
            </a:pPr>
            <a:r>
              <a:rPr sz="675" b="1">
                <a:solidFill>
                  <a:srgbClr val="8E8E93"/>
                </a:solidFill>
              </a:rPr>
              <a:t>PASTE MCP UX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ED3DC-A60F-4881-8378-9714ECE1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010"/>
                </a:solidFill>
              </a:defRPr>
            </a:pPr>
            <a:r>
              <a:rPr sz="2400" b="1">
                <a:solidFill>
                  <a:srgbClr val="101010"/>
                </a:solidFill>
              </a:rPr>
              <a:t>Dev Clipboardへの示唆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01A3A-05A9-4E8F-B908-BE9EAC8E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8905875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DCFFD-B460-4F51-9B74-B914B790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38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Pasteから学ぶ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14DF7-6373-484D-B056-ECDEF43A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4782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010"/>
                </a:solidFill>
              </a:defRPr>
            </a:pPr>
            <a:r>
              <a:rPr sz="1200" b="0">
                <a:solidFill>
                  <a:srgbClr val="101010"/>
                </a:solidFill>
              </a:rPr>
              <a:t>ショートカット、視覚カード、Pinboard、複数ペースト、ローカル/承認制。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FC7DE-3F53-4601-989C-55763138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8905875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3ED30-2303-413D-84EF-1406CE36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Pasteとズラす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BF8FC-BB78-4053-B818-20A073D0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7177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010"/>
                </a:solidFill>
              </a:defRPr>
            </a:pPr>
            <a:r>
              <a:rPr sz="1200" b="0">
                <a:solidFill>
                  <a:srgbClr val="101010"/>
                </a:solidFill>
              </a:rPr>
              <a:t>汎用履歴ではなく、開発クリップの意味・危険度・貼る前確認に集中。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CE0AD-7678-41D7-92BA-8116B364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8905875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13879-5947-4A6D-AEBC-44840D71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400"/>
                </a:solidFill>
              </a:defRPr>
            </a:pPr>
            <a:r>
              <a:rPr sz="1725" b="1">
                <a:solidFill>
                  <a:srgbClr val="FF9400"/>
                </a:solidFill>
              </a:rPr>
              <a:t>MCPで勝つ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158B0-502A-42AB-BDA7-382429A3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9572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010"/>
                </a:solidFill>
              </a:defRPr>
            </a:pPr>
            <a:r>
              <a:rPr sz="1200" b="0">
                <a:solidFill>
                  <a:srgbClr val="101010"/>
                </a:solidFill>
              </a:rPr>
              <a:t>AIに渡す対象を“許可した開発用履歴/スニペット”に限定し、参照ログを見せる。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B9A8C-9D6A-4980-B56B-30580F13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8905875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D1CEB-C4BD-49C5-A99B-A241B80A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UIで勝つ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5B2BA-80FB-46D7-90F2-AC1B966B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1967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010"/>
                </a:solidFill>
              </a:defRPr>
            </a:pPr>
            <a:r>
              <a:rPr sz="1200" b="0">
                <a:solidFill>
                  <a:srgbClr val="101010"/>
                </a:solidFill>
              </a:rPr>
              <a:t>コマンド/パス/リッチテキスト/プレーンテキスト/危険度をカード上で即理解できる。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0D9A0-A8E1-41BA-B8C7-410B590A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53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010"/>
                </a:solidFill>
              </a:defRPr>
            </a:pPr>
            <a:r>
              <a:rPr sz="1350" b="1">
                <a:solidFill>
                  <a:srgbClr val="101010"/>
                </a:solidFill>
              </a:rPr>
              <a:t>結論: Paste MCPは“AIに履歴を渡す便利さ”の先行例。Dev Clipboardは“貼る前に理解する安全性”で差別化できる。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C8132-A5D5-4109-AE82-6CC9FC7D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723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Sources synthesized from Paste MCP, Help pages, App Store, Setapp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D77D0-87B7-4913-8C17-C2F95A4D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2199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72983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C6633C-DE0A-4B31-A67E-71022E7D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Reference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E7F3E-40F5-4E8F-9229-EDFA8890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Paste MCP page: clipboard history as context; examples include notes -&gt; update, research -&gt; presentation, work recap, pinboards.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A42FE-F37A-4A74-ADEB-FB5BAC2E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Help pages: Claude uses extension install; Cursor opens and asks install/approval; Codex shows a Terminal command.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2CE77-35A2-444A-A470-DA30CDAF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App Store: 4.2/5, 1.3K ratings; reviews praise shortcuts, visual cards, categories, batch paste; complaints include support, subscription, density.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2578E-7E64-4047-9370-34D53A5E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Setapp: 98%, 7,036 ratings; recent reviews praise most-used app, category saving, efficiency.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B4E28-EDCD-443B-90F9-E85E6F40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Caution: public reviews specifically about Paste MCP are still scarce as of 2026-06-27, so MCP UX評価は公式フロー＋既存Paste評価からの分析を含む。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1D9B7-6C12-4196-A9F8-1C4D936E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723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Links: pasteapp.io/mcp, pasteapp.io/help/connect-codex, /connect-cursor, /connect-claude-desktop, App Store, Setapp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6324E-5C75-4551-994D-8BFB4731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2199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8E8E93"/>
                </a:solidFill>
              </a:defRPr>
            </a:pPr>
            <a:r>
              <a:rPr sz="638" b="0">
                <a:solidFill>
                  <a:srgbClr val="8E8E9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54686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2026-06-26T15:42:48.6970000Z</dcterms:created>
  <dcterms:modified xsi:type="dcterms:W3CDTF">2026-06-26T15:42:48.6970000Z</dcterms:modified>
</coreProperties>
</file>