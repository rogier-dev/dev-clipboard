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fc17d69c534486" /><Relationship Type="http://schemas.openxmlformats.org/officeDocument/2006/relationships/extended-properties" Target="/docProps/app.xml" Id="Ra869232c53cc466e" /><Relationship Type="http://schemas.openxmlformats.org/officeDocument/2006/relationships/officeDocument" Target="/ppt/presentation.xml" Id="Rfde4f7c5064946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579db73f864231"/>
  </p:sldMasterIdLst>
  <p:notesMasterIdLst>
    <p:notesMasterId xmlns:r="http://schemas.openxmlformats.org/officeDocument/2006/relationships" r:id="R6add8f03e63341eb"/>
  </p:notesMasterIdLst>
  <p:sldIdLst>
    <p:sldId xmlns:r="http://schemas.openxmlformats.org/officeDocument/2006/relationships" id="256" r:id="Rca103facf4884795"/>
    <p:sldId xmlns:r="http://schemas.openxmlformats.org/officeDocument/2006/relationships" id="257" r:id="R36db44bfd8614961"/>
    <p:sldId xmlns:r="http://schemas.openxmlformats.org/officeDocument/2006/relationships" id="258" r:id="R10427ab4804540ac"/>
    <p:sldId xmlns:r="http://schemas.openxmlformats.org/officeDocument/2006/relationships" id="259" r:id="R796b139bcfdc4104"/>
    <p:sldId xmlns:r="http://schemas.openxmlformats.org/officeDocument/2006/relationships" id="260" r:id="R5332092459e1430f"/>
    <p:sldId xmlns:r="http://schemas.openxmlformats.org/officeDocument/2006/relationships" id="261" r:id="R81d81539485547f7"/>
    <p:sldId xmlns:r="http://schemas.openxmlformats.org/officeDocument/2006/relationships" id="262" r:id="Ra3a874ca4c5e466b"/>
    <p:sldId xmlns:r="http://schemas.openxmlformats.org/officeDocument/2006/relationships" id="263" r:id="Rc9cee6e22f2449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706b77c2794368" /><Relationship Type="http://schemas.openxmlformats.org/officeDocument/2006/relationships/slideMaster" Target="/ppt/slideMasters/slideMaster1.xml" Id="Rdd579db73f864231" /><Relationship Type="http://schemas.openxmlformats.org/officeDocument/2006/relationships/notesMaster" Target="/ppt/notesMasters/notesMaster1.xml" Id="R6add8f03e63341eb" /><Relationship Type="http://schemas.openxmlformats.org/officeDocument/2006/relationships/presProps" Target="/ppt/presProps.xml" Id="R93c78b8614a047eb" /><Relationship Type="http://schemas.openxmlformats.org/officeDocument/2006/relationships/tableStyles" Target="/ppt/tableStyles.xml" Id="R5d1c64416fa34f4a" /><Relationship Type="http://schemas.openxmlformats.org/officeDocument/2006/relationships/slide" Target="/ppt/slides/slide1.xml" Id="Rca103facf4884795" /><Relationship Type="http://schemas.openxmlformats.org/officeDocument/2006/relationships/slide" Target="/ppt/slides/slide2.xml" Id="R36db44bfd8614961" /><Relationship Type="http://schemas.openxmlformats.org/officeDocument/2006/relationships/slide" Target="/ppt/slides/slide3.xml" Id="R10427ab4804540ac" /><Relationship Type="http://schemas.openxmlformats.org/officeDocument/2006/relationships/slide" Target="/ppt/slides/slide4.xml" Id="R796b139bcfdc4104" /><Relationship Type="http://schemas.openxmlformats.org/officeDocument/2006/relationships/slide" Target="/ppt/slides/slide5.xml" Id="R5332092459e1430f" /><Relationship Type="http://schemas.openxmlformats.org/officeDocument/2006/relationships/slide" Target="/ppt/slides/slide6.xml" Id="R81d81539485547f7" /><Relationship Type="http://schemas.openxmlformats.org/officeDocument/2006/relationships/slide" Target="/ppt/slides/slide7.xml" Id="Ra3a874ca4c5e466b" /><Relationship Type="http://schemas.openxmlformats.org/officeDocument/2006/relationships/slide" Target="/ppt/slides/slide8.xml" Id="Rc9cee6e22f2449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86137dae6143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f61ced817d40f1" /><Relationship Type="http://schemas.openxmlformats.org/officeDocument/2006/relationships/notesMaster" Target="/ppt/notesMasters/notesMaster1.xml" Id="Rbc8295405bbf46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e43d53e7d94cd1" /><Relationship Type="http://schemas.openxmlformats.org/officeDocument/2006/relationships/notesMaster" Target="/ppt/notesMasters/notesMaster1.xml" Id="R2c78f3d516e5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a1e50547574b5c" /><Relationship Type="http://schemas.openxmlformats.org/officeDocument/2006/relationships/notesMaster" Target="/ppt/notesMasters/notesMaster1.xml" Id="R1950241758b844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d75a2771d74ce3" /><Relationship Type="http://schemas.openxmlformats.org/officeDocument/2006/relationships/notesMaster" Target="/ppt/notesMasters/notesMaster1.xml" Id="R2b6b15be65244a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8c8ca0b23b45f1" /><Relationship Type="http://schemas.openxmlformats.org/officeDocument/2006/relationships/notesMaster" Target="/ppt/notesMasters/notesMaster1.xml" Id="R15949b5f9f8a4c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98aaba2d884f1c" /><Relationship Type="http://schemas.openxmlformats.org/officeDocument/2006/relationships/notesMaster" Target="/ppt/notesMasters/notesMaster1.xml" Id="R1d63b5091cfa46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b4a2c741254f2e" /><Relationship Type="http://schemas.openxmlformats.org/officeDocument/2006/relationships/notesMaster" Target="/ppt/notesMasters/notesMaster1.xml" Id="R7e78c17e50fa4a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64e01d2d9b410b" /><Relationship Type="http://schemas.openxmlformats.org/officeDocument/2006/relationships/notesMaster" Target="/ppt/notesMasters/notesMaster1.xml" Id="R31ed3a345cf34e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67a6fe44b44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7d8268903a42ff" /><Relationship Type="http://schemas.openxmlformats.org/officeDocument/2006/relationships/slideLayout" Target="/ppt/slideLayouts/slideLayout1.xml" Id="Rd407d850a01c44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07d850a01c44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606cee2e043c6" /><Relationship Type="http://schemas.openxmlformats.org/officeDocument/2006/relationships/image" Target="/ppt/media/image.png" Id="Rddeb8077b8b54faa" /><Relationship Type="http://schemas.openxmlformats.org/officeDocument/2006/relationships/image" Target="/ppt/media/image2.png" Id="R6117af5f0b484cc5" /><Relationship Type="http://schemas.openxmlformats.org/officeDocument/2006/relationships/notesSlide" Target="/ppt/notesSlides/notesSlide1.xml" Id="R557ab4295ded42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843efeb2f497a" /><Relationship Type="http://schemas.openxmlformats.org/officeDocument/2006/relationships/image" Target="/ppt/media/image3.png" Id="R5689f2c824974662" /><Relationship Type="http://schemas.openxmlformats.org/officeDocument/2006/relationships/notesSlide" Target="/ppt/notesSlides/notesSlide2.xml" Id="R74413593f3874c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edd7c802940de" /><Relationship Type="http://schemas.openxmlformats.org/officeDocument/2006/relationships/notesSlide" Target="/ppt/notesSlides/notesSlide3.xml" Id="Reeeecc377b0143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667a8265c4293" /><Relationship Type="http://schemas.openxmlformats.org/officeDocument/2006/relationships/notesSlide" Target="/ppt/notesSlides/notesSlide4.xml" Id="R8216d16422f847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4c37e06254ca5" /><Relationship Type="http://schemas.openxmlformats.org/officeDocument/2006/relationships/notesSlide" Target="/ppt/notesSlides/notesSlide5.xml" Id="R02e233ee29ba41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3a2e98ccf40c6" /><Relationship Type="http://schemas.openxmlformats.org/officeDocument/2006/relationships/image" Target="/ppt/media/image4.png" Id="R09528b85858c4cb3" /><Relationship Type="http://schemas.openxmlformats.org/officeDocument/2006/relationships/notesSlide" Target="/ppt/notesSlides/notesSlide6.xml" Id="Rc361bfb9440943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5ccfa2546427c" /><Relationship Type="http://schemas.openxmlformats.org/officeDocument/2006/relationships/notesSlide" Target="/ppt/notesSlides/notesSlide7.xml" Id="R0b0b6928e7a849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6e1bd6f984a8f" /><Relationship Type="http://schemas.openxmlformats.org/officeDocument/2006/relationships/notesSlide" Target="/ppt/notesSlides/notesSlide8.xml" Id="R5844b394db254f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b8077b8b54faa"/>
          <a:srcRect xmlns:a="http://schemas.openxmlformats.org/drawingml/2006/main" l="0" t="95" r="0" b="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876300"/>
            <a:ext cx="4762500" cy="2495550"/>
          </a:xfrm>
          <a:prstGeom xmlns:a="http://schemas.openxmlformats.org/drawingml/2006/main" prst="roundRect">
            <a:avLst>
              <a:gd name="adj" fmla="val 6107"/>
            </a:avLst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7af5f0b484cc5"/>
          <a:stretch xmlns:a="http://schemas.openxmlformats.org/drawingml/2006/main"/>
        </p:blipFill>
        <p:spPr>
          <a:xfrm xmlns:a="http://schemas.openxmlformats.org/drawingml/2006/main">
            <a:off x="723900" y="7429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A8E54-19A2-4BEB-8C21-3328BCAB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1010"/>
                </a:solidFill>
              </a:defRPr>
            </a:pPr>
            <a:r>
              <a:rPr sz="3750" b="1">
                <a:solidFill>
                  <a:srgbClr val="101010"/>
                </a:solidFill>
              </a:rPr>
              <a:t>Paste Design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99ADC-DB45-408E-B3F2-A9E17280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E6E73"/>
                </a:solidFill>
              </a:defRPr>
            </a:pPr>
            <a:r>
              <a:rPr sz="1650" b="0">
                <a:solidFill>
                  <a:srgbClr val="6E6E73"/>
                </a:solidFill>
              </a:rPr>
              <a:t>公式サイトとMCP設定UIから読み解く、Pasteの視覚言語・UX原則・Dev Clipboardへの示唆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029A8-770B-4064-9E9D-C6CF32F6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2F012-ABBD-4706-81A5-1A2C38D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6E73"/>
                </a:solidFill>
              </a:defRPr>
            </a:pPr>
            <a:r>
              <a:rPr sz="900" b="1">
                <a:solidFill>
                  <a:srgbClr val="6E6E73"/>
                </a:solidFill>
              </a:rPr>
              <a:t>調査日 2026-06-27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D3914-12A7-4269-A903-ACA8648C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A58DE-BAE2-455A-8F59-8BC37784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90925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6E73"/>
                </a:solidFill>
              </a:defRPr>
            </a:pPr>
            <a:r>
              <a:rPr sz="900" b="1">
                <a:solidFill>
                  <a:srgbClr val="6E6E73"/>
                </a:solidFill>
              </a:rPr>
              <a:t>出典: pasteapp.io</a:t>
            </a:r>
          </a:p>
        </p:txBody>
      </p:sp>
    </p:spTree>
    <p:extLst>
      <p:ext uri="{BB962C8B-B14F-4D97-AF65-F5344CB8AC3E}">
        <p14:creationId xmlns:p14="http://schemas.microsoft.com/office/powerpoint/2010/main" val="332649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65570-0524-4890-B88C-7EDA9EF2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E8E93"/>
                </a:solidFill>
              </a:defRPr>
            </a:pPr>
            <a:r>
              <a:rPr sz="825" b="1">
                <a:solidFill>
                  <a:srgbClr val="8E8E93"/>
                </a:solidFill>
              </a:rPr>
              <a:t>PASTE DESIGN SYSTEM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D0C9F-1E1B-4FB8-8B29-5F97A5C9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ブランドの第一印象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9f2c824974662"/>
          <a:stretch xmlns:a="http://schemas.openxmlformats.org/drawingml/2006/main"/>
        </p:blipFill>
        <p:spPr>
          <a:xfrm xmlns:a="http://schemas.openxmlformats.org/drawingml/2006/main">
            <a:off x="857741" y="1428750"/>
            <a:ext cx="5047268" cy="2447925"/>
          </a:xfrm>
          <a:prstGeom xmlns:a="http://schemas.openxmlformats.org/drawingml/2006/main" prst="roundRect">
            <a:avLst>
              <a:gd name="adj" fmla="val 622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91384-14F4-4573-AEC9-85489D73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66850"/>
            <a:ext cx="42862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1E6E2-0F3E-4BEB-8185-23A44D30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97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Apple的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65E7C-08FF-4059-8337-45DECB20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白と淡いグレー、余白、大きな角丸、デバイスモックアップ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9FDA0-AA92-4A2F-8F55-0846CB59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2862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D9152-1F8C-4299-87BD-6A88040D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03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軽さ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14C8E-0E3B-4CF9-8E73-27FBB2E1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技術製品だが重く見せず、日常のユーティリティとして見せる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A73B3-DD75-413D-9A17-D55841A8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42862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73E28-D9BE-4F0C-A825-39FC2476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90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信頼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75EB0-41F0-476D-956F-1CFB8980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81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黒に近い本文と抑えたUI、CTAだけを強いオレンジに集中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07E81-8DA3-4516-A779-F8C03BAD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42862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97E6A-8794-4B80-A9E1-B8F9375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815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1010"/>
                </a:solidFill>
              </a:defRPr>
            </a:pPr>
            <a:r>
              <a:rPr sz="1650" b="1">
                <a:solidFill>
                  <a:srgbClr val="101010"/>
                </a:solidFill>
              </a:rPr>
              <a:t>親しみ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57D0A-6B13-411E-9C9E-EEDB3579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E6E73"/>
                </a:solidFill>
              </a:defRPr>
            </a:pPr>
            <a:r>
              <a:rPr sz="1125" b="0">
                <a:solidFill>
                  <a:srgbClr val="6E6E73"/>
                </a:solidFill>
              </a:rPr>
              <a:t>カード、ピル、丸いアイコンで操作対象を柔らかく表現</a:t>
            </a:r>
          </a:p>
        </p:txBody>
      </p:sp>
    </p:spTree>
    <p:extLst>
      <p:ext uri="{BB962C8B-B14F-4D97-AF65-F5344CB8AC3E}">
        <p14:creationId xmlns:p14="http://schemas.microsoft.com/office/powerpoint/2010/main" val="1685132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76A3F1-2789-4288-8B5B-87CA49B2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E8E93"/>
                </a:solidFill>
              </a:defRPr>
            </a:pPr>
            <a:r>
              <a:rPr sz="825" b="1">
                <a:solidFill>
                  <a:srgbClr val="8E8E93"/>
                </a:solidFill>
              </a:rPr>
              <a:t>PASTE DESIGN SYSTEM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8B767-0A80-49B0-867E-03EB378E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Color Tokens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2F44C-3318-41CB-B3F8-E206DBEF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37E88-30D1-4538-8927-F5523AE8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9400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96B45-5B47-41A4-BB16-3EFD171C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Brand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2998D-E79A-4363-8181-D4458153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#FF9400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40010-1BE2-4FAB-AEA8-A4029470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002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11F8F-6F1F-4A67-90DE-1C8C5533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716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EAB30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84F44-0ABF-4E90-A546-F41D7E54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003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Brand gradient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509C5-265A-462C-BF54-F8ABE543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#FEAB30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14DD9-7FA2-4600-A72A-243D23A3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002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FDD49-996B-4BC2-9F85-BF4BA7BD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716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EB51D-EE97-41F8-88ED-B3368375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F5F04-6385-446A-BFAC-A5213D68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098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#101010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7AF72-588E-4ACB-94BD-323317C3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002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66133-0B26-4367-9A91-446D7346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716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14B03-3CDF-4F1C-B93F-5D6CA862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003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Surface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D0C7A-B9A2-4788-B872-DA2FD000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098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#F5F5F7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05F65-0700-4288-BE76-0252DF5A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002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E02EC-A100-4438-839D-BB3E9F1E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716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E6E73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E9C899-829A-4067-9886-DDF9BE6D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03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Muted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8A278-0BD2-4092-ADBF-69B61623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098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#6E6E73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990D2-1935-4788-97C3-61D641F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FA340-8FAB-4397-8DDF-3731096D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8E8E93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582A1E-D96F-4E2F-BECA-895059D7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Sub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4281F-A044-41C3-A922-E0E68E85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#8E8E93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32BD98-B852-4B95-AE45-F38C57D9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147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449B94-9EFF-475F-A192-E5439E06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861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C759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72205D-2A4A-4728-AC58-3AED41AF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14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Success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A6B3A-F2F1-40E9-81D1-9679E066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24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#34C759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4EB306-7478-45E3-A469-2136FA74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EE05D7-95FC-480C-B95A-E0B88A3A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861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383C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CE4DB-FD15-4208-BE3C-6885A783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14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Danger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F059D2-E340-4B18-BE8C-95F47CB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24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#FF383C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9A1C0F-438C-49D4-86FF-2377CD24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237F50-72DC-45A7-A820-4C7AE5F4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861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088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9021CC-0FAB-446B-B070-0C30958B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14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Accent blue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261194-14DA-4128-975E-8B1BF61D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24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#0088FF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F46F64-6264-476C-BED9-59FFED4C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1676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78AA38-B120-447C-AE0F-F3719F97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86150"/>
            <a:ext cx="1333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B30E0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0D6382-1EDD-4078-9031-D77DCC6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148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Accent purple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72EA43-AB53-40FB-8CE2-3BAEF73C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24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E6E73"/>
                </a:solidFill>
              </a:defRPr>
            </a:pPr>
            <a:r>
              <a:rPr sz="900" b="0">
                <a:solidFill>
                  <a:srgbClr val="6E6E73"/>
                </a:solidFill>
              </a:rPr>
              <a:t>#CB30E0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4DA3B1-DC0F-456B-A1B4-B6ABF661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観察: CTAとグラデーションはオレンジ系に集中。本文はInk、説明はMuted/Subで階層化。</a:t>
            </a:r>
          </a:p>
        </p:txBody>
      </p:sp>
    </p:spTree>
    <p:extLst>
      <p:ext uri="{BB962C8B-B14F-4D97-AF65-F5344CB8AC3E}">
        <p14:creationId xmlns:p14="http://schemas.microsoft.com/office/powerpoint/2010/main" val="254521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666F97-5C60-4262-8053-540FDD62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E8E93"/>
                </a:solidFill>
              </a:defRPr>
            </a:pPr>
            <a:r>
              <a:rPr sz="825" b="1">
                <a:solidFill>
                  <a:srgbClr val="8E8E93"/>
                </a:solidFill>
              </a:rPr>
              <a:t>PASTE DESIGN SYSTEM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E2CFB-C03F-445F-A03F-46BB6A6A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Typography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D3B8E-C1AD-4416-B01E-8689E628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010"/>
                </a:solidFill>
              </a:defRPr>
            </a:pPr>
            <a:r>
              <a:rPr sz="3150" b="1">
                <a:solidFill>
                  <a:srgbClr val="101010"/>
                </a:solidFill>
              </a:rPr>
              <a:t>Your clipboard, supercharged and secure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C379F-7D89-498A-A5BD-094357C6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E6E73"/>
                </a:solidFill>
              </a:defRPr>
            </a:pPr>
            <a:r>
              <a:rPr sz="1500" b="0">
                <a:solidFill>
                  <a:srgbClr val="6E6E73"/>
                </a:solidFill>
              </a:rPr>
              <a:t>Paste keeps everything you copy organized and searchable. Lightweight, intuitive, packed with smart features, and private by design.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30A26-503E-4040-890E-87A2D647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0078A-513F-40C9-A8F1-8453574E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954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Display XL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F87F9-DAD2-4C65-A10F-EAF19548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E6E73"/>
                </a:solidFill>
              </a:defRPr>
            </a:pPr>
            <a:r>
              <a:rPr sz="938" b="0">
                <a:solidFill>
                  <a:srgbClr val="6E6E73"/>
                </a:solidFill>
              </a:rPr>
              <a:t>大きな情緒訴求。50px級、太め。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6023D-60B9-472A-A3FC-7A5F5B22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Display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BCBAD-571C-475A-8855-95770C8C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90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E6E73"/>
                </a:solidFill>
              </a:defRPr>
            </a:pPr>
            <a:r>
              <a:rPr sz="938" b="0">
                <a:solidFill>
                  <a:srgbClr val="6E6E73"/>
                </a:solidFill>
              </a:rPr>
              <a:t>セクション見出し。38-42px級。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02763-E2CB-4FD6-A51E-C1E9345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860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Subtitle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E0CED-728A-4832-88D5-BA4B4B03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E6E73"/>
                </a:solidFill>
              </a:defRPr>
            </a:pPr>
            <a:r>
              <a:rPr sz="938" b="0">
                <a:solidFill>
                  <a:srgbClr val="6E6E73"/>
                </a:solidFill>
              </a:rPr>
              <a:t>価値説明。20-22px級、Muted。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9CEB4-1BD0-40AC-BA09-49DC587A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Body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D94A8-0B06-403B-AA35-01406E5C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E6E73"/>
                </a:solidFill>
              </a:defRPr>
            </a:pPr>
            <a:r>
              <a:rPr sz="938" b="0">
                <a:solidFill>
                  <a:srgbClr val="6E6E73"/>
                </a:solidFill>
              </a:rPr>
              <a:t>機能説明。15-16px級。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C9442-4107-48ED-B29D-10B4F3B1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76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1010"/>
                </a:solidFill>
              </a:defRPr>
            </a:pPr>
            <a:r>
              <a:rPr sz="1125" b="1">
                <a:solidFill>
                  <a:srgbClr val="101010"/>
                </a:solidFill>
              </a:rPr>
              <a:t>Meta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CD586-AF44-4C8A-8C36-D22612CF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6E6E73"/>
                </a:solidFill>
              </a:defRPr>
            </a:pPr>
            <a:r>
              <a:rPr sz="938" b="0">
                <a:solidFill>
                  <a:srgbClr val="6E6E73"/>
                </a:solidFill>
              </a:rPr>
              <a:t>補助情報。11-12px級、Sub。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1D33F-6D1D-4D3F-A49E-6F3FA87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</a:rPr>
              <a:t>設計メモ: 説明文は読みやすいが、主役は常に大きな短文コピー。Dev Clipboardでも「危険度」「説明」「実行前チェック」を短い階層に分けるのが合う。</a:t>
            </a:r>
          </a:p>
        </p:txBody>
      </p:sp>
    </p:spTree>
    <p:extLst>
      <p:ext uri="{BB962C8B-B14F-4D97-AF65-F5344CB8AC3E}">
        <p14:creationId xmlns:p14="http://schemas.microsoft.com/office/powerpoint/2010/main" val="1753611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DB96A-9E9B-4BA5-8961-260CD608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E8E93"/>
                </a:solidFill>
              </a:defRPr>
            </a:pPr>
            <a:r>
              <a:rPr sz="825" b="1">
                <a:solidFill>
                  <a:srgbClr val="8E8E93"/>
                </a:solidFill>
              </a:rPr>
              <a:t>PASTE DESIGN SYSTEM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3FA23-03C2-40FD-ABE6-1E06DDB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Components &amp; Shape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90EAB-98F8-4CC7-A606-A3FB586A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4191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E5249-1761-4E03-8AE5-E496752B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47850"/>
            <a:ext cx="1714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216C0-6B98-4FF4-BA64-3CB9CE5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716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Try for free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C9FFD-6EEF-4E32-A161-EAF95CB2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71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Full pill CTA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416B4-D3C2-407A-A670-18CBF3C2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3"/>
                </a:solidFill>
              </a:defRPr>
            </a:pPr>
            <a:r>
              <a:rPr sz="975" b="0">
                <a:solidFill>
                  <a:srgbClr val="6E6E73"/>
                </a:solidFill>
              </a:rPr>
              <a:t>rounded-full / brand fill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1A635-8AFB-45EE-BDC3-1E267058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47800"/>
            <a:ext cx="4191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8769A-A3F5-42B4-935F-3876C4F5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1524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04B61-B636-4ED4-8198-0243507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Large tile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67BD8-8CA2-454A-A226-61F719FA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3"/>
                </a:solidFill>
              </a:defRPr>
            </a:pPr>
            <a:r>
              <a:rPr sz="975" b="0">
                <a:solidFill>
                  <a:srgbClr val="6E6E73"/>
                </a:solidFill>
              </a:rPr>
              <a:t>rounded 20-40px / soft surface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F160E-B3EF-4710-8808-786FBC35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191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33827-1404-45B8-99D8-AA510EB8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1524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4338C-0506-412C-8CBD-B4CEB96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81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Popover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8FFC9-E946-474A-BCF0-1038DB4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3"/>
                </a:solidFill>
              </a:defRPr>
            </a:pPr>
            <a:r>
              <a:rPr sz="975" b="0">
                <a:solidFill>
                  <a:srgbClr val="6E6E73"/>
                </a:solidFill>
              </a:rPr>
              <a:t>white 80% / blur / shadow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EF8E6-E6AB-403E-A50F-E5BDBC75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4191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45619-DB58-43DD-B1DF-CF4A59AC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1400"/>
            <a:ext cx="1524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C73C8-BFC6-49BD-8B34-4684A164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Media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B434A-1BEE-4EC1-BF0A-B5FA2E79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3"/>
                </a:solidFill>
              </a:defRPr>
            </a:pPr>
            <a:r>
              <a:rPr sz="975" b="0">
                <a:solidFill>
                  <a:srgbClr val="6E6E73"/>
                </a:solidFill>
              </a:rPr>
              <a:t>rounded tile / subtle border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AFC38-E76E-4A79-B490-4E98421F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E6E73"/>
                </a:solidFill>
              </a:defRPr>
            </a:pPr>
            <a:r>
              <a:rPr sz="1350" b="0">
                <a:solidFill>
                  <a:srgbClr val="6E6E73"/>
                </a:solidFill>
              </a:rPr>
              <a:t>角丸は小さな部品より、タイル・メディア・ウィンドウ全体で強く効かせる。Pasteらしさは“柔らかいOSネイティブ感”。</a:t>
            </a:r>
          </a:p>
        </p:txBody>
      </p:sp>
    </p:spTree>
    <p:extLst>
      <p:ext uri="{BB962C8B-B14F-4D97-AF65-F5344CB8AC3E}">
        <p14:creationId xmlns:p14="http://schemas.microsoft.com/office/powerpoint/2010/main" val="12819029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7A0C2-B511-4A30-864A-2AE5CB11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E8E93"/>
                </a:solidFill>
              </a:defRPr>
            </a:pPr>
            <a:r>
              <a:rPr sz="825" b="1">
                <a:solidFill>
                  <a:srgbClr val="8E8E93"/>
                </a:solidFill>
              </a:rPr>
              <a:t>PASTE DESIGN SYSTEM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74036-7939-4C70-8A78-6EB8A6AF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MCP Settings UI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28b85858c4cb3"/>
          <a:stretch xmlns:a="http://schemas.openxmlformats.org/drawingml/2006/main"/>
        </p:blipFill>
        <p:spPr>
          <a:xfrm xmlns:a="http://schemas.openxmlformats.org/drawingml/2006/main">
            <a:off x="895350" y="1353165"/>
            <a:ext cx="5334000" cy="4989871"/>
          </a:xfrm>
          <a:prstGeom xmlns:a="http://schemas.openxmlformats.org/drawingml/2006/main" prst="roundRect">
            <a:avLst>
              <a:gd name="adj" fmla="val 3053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C9602-2BFA-45F4-B862-49FE7044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85900"/>
            <a:ext cx="4000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71A59-CF99-42C6-B3A0-8FFBBDB7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9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Navigation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27BE6-7306-418B-AC01-5F4E30CD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3"/>
                </a:solidFill>
              </a:defRPr>
            </a:pPr>
            <a:r>
              <a:rPr sz="975" b="0">
                <a:solidFill>
                  <a:srgbClr val="6E6E73"/>
                </a:solidFill>
              </a:rPr>
              <a:t>左サイドバーにGeneral / Privacy / Shortcuts / MCP / Subscription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FE45C-7580-48E4-A2A5-39ACB4C0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4000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30B37-BF49-4021-9B9E-152677AA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400"/>
                </a:solidFill>
              </a:defRPr>
            </a:pPr>
            <a:r>
              <a:rPr sz="1500" b="1">
                <a:solidFill>
                  <a:srgbClr val="FF9400"/>
                </a:solidFill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485F0-EBE8-4DA7-94C9-57FB9516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3"/>
                </a:solidFill>
              </a:defRPr>
            </a:pPr>
            <a:r>
              <a:rPr sz="975" b="0">
                <a:solidFill>
                  <a:srgbClr val="6E6E73"/>
                </a:solidFill>
              </a:rPr>
              <a:t>Enable MCPのトグルと緑ドットでローカルサーバー稼働を表示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B6D86-D17C-48AC-A559-4F62117F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4000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9A0E3-C864-4422-8D5A-F2ACBAEF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73F39-BD9A-4A34-984C-00E05BE7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3"/>
                </a:solidFill>
              </a:defRPr>
            </a:pPr>
            <a:r>
              <a:rPr sz="975" b="0">
                <a:solidFill>
                  <a:srgbClr val="6E6E73"/>
                </a:solidFill>
              </a:rPr>
              <a:t>127.0.0.1のURLを明示し、コピーアイコンを付与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620C4-6D25-4FA6-8252-21D7C58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000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C6096-FF29-4324-823C-28E970C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91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010"/>
                </a:solidFill>
              </a:defRPr>
            </a:pPr>
            <a:r>
              <a:rPr sz="1500" b="1">
                <a:solidFill>
                  <a:srgbClr val="101010"/>
                </a:solidFill>
              </a:rPr>
              <a:t>Connections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2A5C1-975B-4518-AA2C-2C3D9567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910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E6E73"/>
                </a:solidFill>
              </a:defRPr>
            </a:pPr>
            <a:r>
              <a:rPr sz="975" b="0">
                <a:solidFill>
                  <a:srgbClr val="6E6E73"/>
                </a:solidFill>
              </a:rPr>
              <a:t>接続済みAIツールを履歴付きで管理</a:t>
            </a:r>
          </a:p>
        </p:txBody>
      </p:sp>
    </p:spTree>
    <p:extLst>
      <p:ext uri="{BB962C8B-B14F-4D97-AF65-F5344CB8AC3E}">
        <p14:creationId xmlns:p14="http://schemas.microsoft.com/office/powerpoint/2010/main" val="1842347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8BCA03-1C43-4275-AC03-800407AD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E8E93"/>
                </a:solidFill>
              </a:defRPr>
            </a:pPr>
            <a:r>
              <a:rPr sz="825" b="1">
                <a:solidFill>
                  <a:srgbClr val="8E8E93"/>
                </a:solidFill>
              </a:rPr>
              <a:t>PASTE DESIGN SYSTEM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8A801-4047-42D8-88AF-51C675D2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010"/>
                </a:solidFill>
              </a:defRPr>
            </a:pPr>
            <a:r>
              <a:rPr sz="2850" b="1">
                <a:solidFill>
                  <a:srgbClr val="101010"/>
                </a:solidFill>
              </a:rPr>
              <a:t>UX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E0A5E-47F1-46A8-AA45-475C3072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04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400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7B9AB-64FA-4AC7-92CB-077D5E58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619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F3C13-1518-45C7-9EEC-45B5A648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高度な概念を短い行動に分解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A3940-0657-4B11-BB4B-5E42F7AF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MCPを“Open settings / Enable / Choose tool / Follow guide”に落とす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68E80-FC15-4571-BF42-0469D9FA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95324-78D1-4208-B9AC-AF7E629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86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</a:defRPr>
            </a:pPr>
            <a:r>
              <a:rPr sz="1350" b="1">
                <a:solidFill>
                  <a:srgbClr val="101010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DE7E1-ADD7-4E32-8911-9115E57B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95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信頼は設定画面で作る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FCF18-2BB5-49E1-A0A4-D4884902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ローカルURL、接続済みツール、解除可能性を可視化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AE634-94E5-4664-8170-5CF6C189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F77F9-AD45-48DF-B5ED-AC184772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52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</a:defRPr>
            </a:pPr>
            <a:r>
              <a:rPr sz="1350" b="1">
                <a:solidFill>
                  <a:srgbClr val="101010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8DA19-28D5-4686-8437-120540E2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62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機能よりユースケースを先に見せる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619629-47D9-4F8B-8305-11F79AC1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Copied notes -&gt; team update のような完成形から説明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76683-ED31-4353-A9DA-94D3D7A0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9525">
            <a:solidFill>
              <a:srgbClr val="E6E6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92149-B82E-41E2-B1E9-D708F119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819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010"/>
                </a:solidFill>
              </a:defRPr>
            </a:pPr>
            <a:r>
              <a:rPr sz="1350" b="1">
                <a:solidFill>
                  <a:srgbClr val="101010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67B26-6A07-45F3-9C6B-1256BDEA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技術を日常化するビジュアル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91979-CE41-4155-8AE0-6815F2A3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6E73"/>
                </a:solidFill>
              </a:defRPr>
            </a:pPr>
            <a:r>
              <a:rPr sz="1200" b="0">
                <a:solidFill>
                  <a:srgbClr val="6E6E73"/>
                </a:solidFill>
              </a:rPr>
              <a:t>AI/MCPでも白いカードと柔らかいOS UIで怖さを下げる</a:t>
            </a:r>
          </a:p>
        </p:txBody>
      </p:sp>
    </p:spTree>
    <p:extLst>
      <p:ext uri="{BB962C8B-B14F-4D97-AF65-F5344CB8AC3E}">
        <p14:creationId xmlns:p14="http://schemas.microsoft.com/office/powerpoint/2010/main" val="919852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96569D-21C2-452C-A4A1-A4AEDF3B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Implications for Dev Clipboard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01DF9-664C-45C3-837A-9807C2A8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Pasteの勝ち筋は“履歴を美しく再利用する”こと。Dev Clipboardは“貼る前に理解し、安全に実行する”ことへ寄せる。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D6AFB-93B8-4CDA-9796-51D199D2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381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FD128-4E75-4C46-A32D-659DA9B7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400"/>
                </a:solidFill>
              </a:defRPr>
            </a:pPr>
            <a:r>
              <a:rPr sz="1500" b="1">
                <a:solidFill>
                  <a:srgbClr val="FF9400"/>
                </a:solidFill>
              </a:rPr>
              <a:t>Keep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8EEB2-1F07-41B8-9644-BAEA5B43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010"/>
                </a:solidFill>
              </a:defRPr>
            </a:pPr>
            <a:r>
              <a:rPr sz="1200" b="0">
                <a:solidFill>
                  <a:srgbClr val="101010"/>
                </a:solidFill>
              </a:rPr>
              <a:t>白/淡グレー/余白/角丸で安心感を作る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5C5C7-EB7B-4640-8381-BB54C638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4381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57266-8C2B-4D03-BCDC-B2105677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400"/>
                </a:solidFill>
              </a:defRPr>
            </a:pPr>
            <a:r>
              <a:rPr sz="1500" b="1">
                <a:solidFill>
                  <a:srgbClr val="FF9400"/>
                </a:solidFill>
              </a:rPr>
              <a:t>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EE8F4-0670-41D4-8E00-F9A3DDE8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010"/>
                </a:solidFill>
              </a:defRPr>
            </a:pPr>
            <a:r>
              <a:rPr sz="1200" b="0">
                <a:solidFill>
                  <a:srgbClr val="101010"/>
                </a:solidFill>
              </a:rPr>
              <a:t>カードに種別・危険度・説明・置換変数を追加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77D4D-45C3-44F6-AE25-67EA2AE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381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0270F-0605-4842-960C-A0918FA9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400"/>
                </a:solidFill>
              </a:defRPr>
            </a:pPr>
            <a:r>
              <a:rPr sz="1500" b="1">
                <a:solidFill>
                  <a:srgbClr val="FF9400"/>
                </a:solidFill>
              </a:rPr>
              <a:t>Differentiate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1BAAB-2E0D-4484-A996-E14DB536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010"/>
                </a:solidFill>
              </a:defRPr>
            </a:pPr>
            <a:r>
              <a:rPr sz="1200" b="0">
                <a:solidFill>
                  <a:srgbClr val="101010"/>
                </a:solidFill>
              </a:rPr>
              <a:t>MCPで渡す対象を“開発クリップ”にスコープ化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86941-F055-4CCA-B4F6-7F3E6E4E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05250"/>
            <a:ext cx="4381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15809-BAD6-4B27-A63B-F5F228C2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400"/>
                </a:solidFill>
              </a:defRPr>
            </a:pPr>
            <a:r>
              <a:rPr sz="1500" b="1">
                <a:solidFill>
                  <a:srgbClr val="FF9400"/>
                </a:solidFill>
              </a:rPr>
              <a:t>Avoid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87603-76DA-4D2D-A472-43E5113D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1010"/>
                </a:solidFill>
              </a:defRPr>
            </a:pPr>
            <a:r>
              <a:rPr sz="1200" b="0">
                <a:solidFill>
                  <a:srgbClr val="101010"/>
                </a:solidFill>
              </a:rPr>
              <a:t>汎用クリップボードとしてPasteと正面衝突しない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E5690-F9E7-47C8-AA41-A228D1E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Sources: pasteapp.io, pasteapp.io/mcp, Paste official screenshots and CSS observations.</a:t>
            </a:r>
          </a:p>
        </p:txBody>
      </p:sp>
    </p:spTree>
    <p:extLst>
      <p:ext uri="{BB962C8B-B14F-4D97-AF65-F5344CB8AC3E}">
        <p14:creationId xmlns:p14="http://schemas.microsoft.com/office/powerpoint/2010/main" val="925310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2026-06-26T15:25:14.2180000Z</dcterms:created>
  <dcterms:modified xsi:type="dcterms:W3CDTF">2026-06-26T15:25:14.2180000Z</dcterms:modified>
</coreProperties>
</file>